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4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D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8961120" y="640080"/>
            <a:ext cx="2377440" cy="1005840"/>
          </a:xfrm>
          <a:prstGeom prst="roundRect">
            <a:avLst/>
          </a:prstGeom>
          <a:solidFill>
            <a:srgbClr val="23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9875520" y="1828800"/>
            <a:ext cx="1645920" cy="2011680"/>
          </a:xfrm>
          <a:prstGeom prst="roundRect">
            <a:avLst/>
          </a:prstGeom>
          <a:solidFill>
            <a:srgbClr val="2C6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503920" y="4206240"/>
            <a:ext cx="2926080" cy="1280160"/>
          </a:xfrm>
          <a:prstGeom prst="roundRect">
            <a:avLst/>
          </a:prstGeom>
          <a:solidFill>
            <a:srgbClr val="2344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051560"/>
            <a:ext cx="7772400" cy="18288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  <a:defRPr sz="3100" b="1">
                <a:solidFill>
                  <a:srgbClr val="FFFFFF"/>
                </a:solidFill>
                <a:latin typeface="Aptos"/>
              </a:defRPr>
            </a:pPr>
            <a:r>
              <a:t>OTSU-BASED AUTOMATIC</a:t>
            </a:r>
          </a:p>
          <a:p>
            <a:pPr>
              <a:spcAft>
                <a:spcPts val="700"/>
              </a:spcAft>
              <a:defRPr sz="3100" b="1">
                <a:solidFill>
                  <a:srgbClr val="FFFFFF"/>
                </a:solidFill>
                <a:latin typeface="Aptos"/>
              </a:defRPr>
            </a:pPr>
            <a:r>
              <a:t>IMAGE SEGMENTATION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154680"/>
            <a:ext cx="6949440" cy="5943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  <a:defRPr sz="2200" b="0">
                <a:solidFill>
                  <a:srgbClr val="B6E0E6"/>
                </a:solidFill>
                <a:latin typeface="Aptos"/>
              </a:defRPr>
            </a:pPr>
            <a:r>
              <a:t>Digital Image Processing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60520"/>
            <a:ext cx="6766560" cy="1619931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FFFFFF"/>
                </a:solidFill>
                <a:latin typeface="Aptos"/>
              </a:defRPr>
            </a:pPr>
            <a:r>
              <a:rPr sz="2800" dirty="0"/>
              <a:t>M. Sai Charan</a:t>
            </a:r>
          </a:p>
          <a:p>
            <a:pPr>
              <a:spcAft>
                <a:spcPts val="700"/>
              </a:spcAft>
              <a:defRPr sz="1700" b="0">
                <a:solidFill>
                  <a:srgbClr val="FFFFFF"/>
                </a:solidFill>
                <a:latin typeface="Aptos"/>
              </a:defRPr>
            </a:pPr>
            <a:r>
              <a:rPr sz="2800" dirty="0"/>
              <a:t>Roll No.: 24CS003246</a:t>
            </a:r>
          </a:p>
          <a:p>
            <a:pPr>
              <a:spcAft>
                <a:spcPts val="700"/>
              </a:spcAft>
              <a:defRPr sz="1700" b="0">
                <a:solidFill>
                  <a:srgbClr val="FFFFFF"/>
                </a:solidFill>
                <a:latin typeface="Aptos"/>
              </a:defRPr>
            </a:pPr>
            <a:r>
              <a:rPr sz="2800" dirty="0"/>
              <a:t>CSE AIML | SPSU |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3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064240" cy="5486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62D4E"/>
                </a:solidFill>
                <a:latin typeface="Aptos"/>
              </a:defRPr>
            </a:pPr>
            <a: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73952"/>
            <a:ext cx="54864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5F6D7C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43000"/>
            <a:ext cx="5303520" cy="411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2C69A6"/>
                </a:solidFill>
                <a:latin typeface="Aptos"/>
              </a:defRPr>
            </a:pPr>
            <a:r>
              <a:t>What is image segmentation?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5303520" cy="11887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6303C"/>
                </a:solidFill>
                <a:latin typeface="Aptos"/>
              </a:defRPr>
            </a:pPr>
            <a:r>
              <a:t>Image segmentation divides an image into meaningful regions, such as an object and its background.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143000"/>
            <a:ext cx="5120640" cy="411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2C69A6"/>
                </a:solidFill>
                <a:latin typeface="Aptos"/>
              </a:defRPr>
            </a:pPr>
            <a:r>
              <a:t>What is Otsu's method?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645920"/>
            <a:ext cx="5120640" cy="1371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6303C"/>
                </a:solidFill>
                <a:latin typeface="Aptos"/>
              </a:defRPr>
            </a:pPr>
            <a:r>
              <a:t>It automatically chooses a threshold from the grayscale histogram, instead of asking the user to select one manually.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3657600"/>
            <a:ext cx="3429000" cy="1554480"/>
          </a:xfrm>
          <a:prstGeom prst="roundRect">
            <a:avLst/>
          </a:prstGeom>
          <a:solidFill>
            <a:srgbClr val="EFF5FA"/>
          </a:solidFill>
          <a:ln>
            <a:solidFill>
              <a:srgbClr val="D5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0392" y="3794760"/>
            <a:ext cx="3099816" cy="34747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239191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4224528"/>
            <a:ext cx="3099816" cy="85953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6303C"/>
                </a:solidFill>
                <a:latin typeface="Aptos"/>
              </a:defRPr>
            </a:pPr>
            <a:r>
              <a:t>A colour or grayscale image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3657600"/>
            <a:ext cx="3429000" cy="1554480"/>
          </a:xfrm>
          <a:prstGeom prst="roundRect">
            <a:avLst/>
          </a:prstGeom>
          <a:solidFill>
            <a:srgbClr val="EFF5FA"/>
          </a:solidFill>
          <a:ln>
            <a:solidFill>
              <a:srgbClr val="D5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53712" y="3794760"/>
            <a:ext cx="3099816" cy="34747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2C69A6"/>
                </a:solidFill>
                <a:latin typeface="Aptos"/>
              </a:defRPr>
            </a:pPr>
            <a:r>
              <a:t>Processing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4224528"/>
            <a:ext cx="3099816" cy="85953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6303C"/>
                </a:solidFill>
                <a:latin typeface="Aptos"/>
              </a:defRPr>
            </a:pPr>
            <a:r>
              <a:t>Grayscale + automatic threshold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3657600"/>
            <a:ext cx="3429000" cy="1554480"/>
          </a:xfrm>
          <a:prstGeom prst="roundRect">
            <a:avLst/>
          </a:prstGeom>
          <a:solidFill>
            <a:srgbClr val="EFF5FA"/>
          </a:solidFill>
          <a:ln>
            <a:solidFill>
              <a:srgbClr val="D5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57031" y="3794760"/>
            <a:ext cx="3099816" cy="34747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E08F37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57031" y="4224528"/>
            <a:ext cx="3099816" cy="85953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6303C"/>
                </a:solidFill>
                <a:latin typeface="Aptos"/>
              </a:defRPr>
            </a:pPr>
            <a:r>
              <a:t>A binary segmented image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3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064240" cy="5486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62D4E"/>
                </a:solidFill>
                <a:latin typeface="Aptos"/>
              </a:defRPr>
            </a:pPr>
            <a:r>
              <a:t>Problem Statement and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73952"/>
            <a:ext cx="54864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5F6D7C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5212080" cy="3657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  <a:defRPr sz="2100" b="1">
                <a:solidFill>
                  <a:srgbClr val="2C69A6"/>
                </a:solidFill>
                <a:latin typeface="Aptos"/>
              </a:defRPr>
            </a:pPr>
            <a:r>
              <a:t>Problem statement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5029200" cy="18288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6303C"/>
                </a:solidFill>
                <a:latin typeface="Aptos"/>
              </a:defRPr>
            </a:pPr>
            <a:r>
              <a:t>Choosing a suitable threshold manually can take time and may give inconsistent results for different images.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143000"/>
            <a:ext cx="5212080" cy="3657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  <a:defRPr sz="2100" b="1">
                <a:solidFill>
                  <a:srgbClr val="2C69A6"/>
                </a:solidFill>
                <a:latin typeface="Aptos"/>
              </a:defRPr>
            </a:pPr>
            <a:r>
              <a:t>Project objectives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00200"/>
            <a:ext cx="5212080" cy="4206240"/>
          </a:xfrm>
          <a:prstGeom prst="rect">
            <a:avLst/>
          </a:prstGeom>
          <a:noFill/>
        </p:spPr>
        <p:txBody>
          <a:bodyPr wrap="square" tIns="73152" rIns="109728">
            <a:spAutoFit/>
          </a:bodyPr>
          <a:lstStyle/>
          <a:p>
            <a:pPr>
              <a:buChar char="•"/>
              <a:defRPr sz="1900">
                <a:solidFill>
                  <a:srgbClr val="26303C"/>
                </a:solidFill>
                <a:latin typeface="Aptos"/>
              </a:defRPr>
            </a:pPr>
            <a:r>
              <a:t>Automatically calculate a threshold using Otsu's method.</a:t>
            </a:r>
          </a:p>
          <a:p>
            <a:pPr>
              <a:buChar char="•"/>
              <a:defRPr sz="1900">
                <a:solidFill>
                  <a:srgbClr val="26303C"/>
                </a:solidFill>
                <a:latin typeface="Aptos"/>
              </a:defRPr>
            </a:pPr>
            <a:r>
              <a:t>Separate foreground and background pixels.</a:t>
            </a:r>
          </a:p>
          <a:p>
            <a:pPr>
              <a:buChar char="•"/>
              <a:defRPr sz="1900">
                <a:solidFill>
                  <a:srgbClr val="26303C"/>
                </a:solidFill>
                <a:latin typeface="Aptos"/>
              </a:defRPr>
            </a:pPr>
            <a:r>
              <a:t>Implement the method using Python and OpenCV.</a:t>
            </a:r>
          </a:p>
          <a:p>
            <a:pPr>
              <a:buChar char="•"/>
              <a:defRPr sz="1900">
                <a:solidFill>
                  <a:srgbClr val="26303C"/>
                </a:solidFill>
                <a:latin typeface="Aptos"/>
              </a:defRPr>
            </a:pPr>
            <a:r>
              <a:t>Display and save the segmented result.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3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064240" cy="5486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62D4E"/>
                </a:solidFill>
                <a:latin typeface="Aptos"/>
              </a:defRPr>
            </a:pPr>
            <a:r>
              <a:t>Tools and Technologies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73952"/>
            <a:ext cx="54864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5F6D7C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474720" cy="1828800"/>
          </a:xfrm>
          <a:prstGeom prst="roundRect">
            <a:avLst/>
          </a:prstGeom>
          <a:solidFill>
            <a:srgbClr val="EFF5FA"/>
          </a:solidFill>
          <a:ln>
            <a:solidFill>
              <a:srgbClr val="D5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1508760"/>
            <a:ext cx="3145536" cy="34747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239191"/>
                </a:solidFill>
                <a:latin typeface="Aptos"/>
              </a:defRPr>
            </a:pPr>
            <a:r>
              <a:t>Python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938528"/>
            <a:ext cx="3145536" cy="113385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6303C"/>
                </a:solidFill>
                <a:latin typeface="Aptos"/>
              </a:defRPr>
            </a:pPr>
            <a:r>
              <a:t>Used to write the image-processing logic.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71600"/>
            <a:ext cx="3474720" cy="1828800"/>
          </a:xfrm>
          <a:prstGeom prst="roundRect">
            <a:avLst/>
          </a:prstGeom>
          <a:solidFill>
            <a:srgbClr val="EFF5FA"/>
          </a:solidFill>
          <a:ln>
            <a:solidFill>
              <a:srgbClr val="D5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53712" y="1508760"/>
            <a:ext cx="3145536" cy="34747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2C69A6"/>
                </a:solidFill>
                <a:latin typeface="Aptos"/>
              </a:defRPr>
            </a:pPr>
            <a:r>
              <a:t>OpenCV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53712" y="1938528"/>
            <a:ext cx="3145536" cy="113385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6303C"/>
                </a:solidFill>
                <a:latin typeface="Aptos"/>
              </a:defRPr>
            </a:pPr>
            <a:r>
              <a:t>Reads images, converts grayscale, and applies Otsu thresholding.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371600"/>
            <a:ext cx="3474720" cy="1828800"/>
          </a:xfrm>
          <a:prstGeom prst="roundRect">
            <a:avLst/>
          </a:prstGeom>
          <a:solidFill>
            <a:srgbClr val="EFF5FA"/>
          </a:solidFill>
          <a:ln>
            <a:solidFill>
              <a:srgbClr val="D5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11312" y="1508760"/>
            <a:ext cx="3145536" cy="34747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E08F37"/>
                </a:solidFill>
                <a:latin typeface="Aptos"/>
              </a:defRPr>
            </a:pPr>
            <a:r>
              <a:t>HTML / CSS (optional UI)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11312" y="1938528"/>
            <a:ext cx="3145536" cy="113385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6303C"/>
                </a:solidFill>
                <a:latin typeface="Aptos"/>
              </a:defRPr>
            </a:pPr>
            <a:r>
              <a:t>Can provide upload controls and show the output in a browser.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023360"/>
            <a:ext cx="10332720" cy="10058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700"/>
              </a:spcAft>
              <a:defRPr sz="2000" b="1">
                <a:solidFill>
                  <a:srgbClr val="162D4E"/>
                </a:solidFill>
                <a:latin typeface="Aptos"/>
              </a:defRPr>
            </a:pPr>
            <a:r>
              <a:t>Project flow: Load image → Convert to grayscale → Calculate threshold → Create binary output → Display / save result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3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064240" cy="5486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62D4E"/>
                </a:solidFill>
                <a:latin typeface="Aptos"/>
              </a:defRPr>
            </a:pPr>
            <a:r>
              <a:t>How I Developed the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73952"/>
            <a:ext cx="54864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5F6D7C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143000"/>
            <a:ext cx="2286000" cy="566928"/>
          </a:xfrm>
          <a:prstGeom prst="roundRect">
            <a:avLst/>
          </a:prstGeom>
          <a:solidFill>
            <a:srgbClr val="EFF5FA"/>
          </a:solidFill>
          <a:ln>
            <a:solidFill>
              <a:srgbClr val="23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162D4E"/>
                </a:solidFill>
                <a:latin typeface="Aptos"/>
              </a:defRPr>
            </a:pPr>
            <a:r>
              <a:t>1. Input image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29000" y="1188720"/>
            <a:ext cx="7498079" cy="5486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6303C"/>
                </a:solidFill>
                <a:latin typeface="Aptos"/>
              </a:defRPr>
            </a:pPr>
            <a:r>
              <a:t>Read the selected image and check that it loaded correctly.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1719072"/>
            <a:ext cx="548640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700"/>
              </a:spcAft>
              <a:defRPr sz="1800" b="1">
                <a:solidFill>
                  <a:srgbClr val="239191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057400"/>
            <a:ext cx="2286000" cy="566928"/>
          </a:xfrm>
          <a:prstGeom prst="roundRect">
            <a:avLst/>
          </a:prstGeom>
          <a:solidFill>
            <a:srgbClr val="EFF5FA"/>
          </a:solidFill>
          <a:ln>
            <a:solidFill>
              <a:srgbClr val="23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162D4E"/>
                </a:solidFill>
                <a:latin typeface="Aptos"/>
              </a:defRPr>
            </a:pPr>
            <a:r>
              <a:t>2. Grayscale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9000" y="2103120"/>
            <a:ext cx="7498079" cy="5486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6303C"/>
                </a:solidFill>
                <a:latin typeface="Aptos"/>
              </a:defRPr>
            </a:pPr>
            <a:r>
              <a:t>Convert colour pixels to one intensity value.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633472"/>
            <a:ext cx="548640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700"/>
              </a:spcAft>
              <a:defRPr sz="1800" b="1">
                <a:solidFill>
                  <a:srgbClr val="239191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971800"/>
            <a:ext cx="2286000" cy="566928"/>
          </a:xfrm>
          <a:prstGeom prst="roundRect">
            <a:avLst/>
          </a:prstGeom>
          <a:solidFill>
            <a:srgbClr val="EFF5FA"/>
          </a:solidFill>
          <a:ln>
            <a:solidFill>
              <a:srgbClr val="23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162D4E"/>
                </a:solidFill>
                <a:latin typeface="Aptos"/>
              </a:defRPr>
            </a:pPr>
            <a:r>
              <a:t>3. Otsu threshold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3017520"/>
            <a:ext cx="7498079" cy="5486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6303C"/>
                </a:solidFill>
                <a:latin typeface="Aptos"/>
              </a:defRPr>
            </a:pPr>
            <a:r>
              <a:t>Let OpenCV calculate the threshold from the histogram.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3547872"/>
            <a:ext cx="548640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700"/>
              </a:spcAft>
              <a:defRPr sz="1800" b="1">
                <a:solidFill>
                  <a:srgbClr val="239191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886200"/>
            <a:ext cx="2286000" cy="566928"/>
          </a:xfrm>
          <a:prstGeom prst="roundRect">
            <a:avLst/>
          </a:prstGeom>
          <a:solidFill>
            <a:srgbClr val="EFF5FA"/>
          </a:solidFill>
          <a:ln>
            <a:solidFill>
              <a:srgbClr val="23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162D4E"/>
                </a:solidFill>
                <a:latin typeface="Aptos"/>
              </a:defRPr>
            </a:pPr>
            <a:r>
              <a:t>4. Segmentation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3931920"/>
            <a:ext cx="7498079" cy="5486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6303C"/>
                </a:solidFill>
                <a:latin typeface="Aptos"/>
              </a:defRPr>
            </a:pPr>
            <a:r>
              <a:t>Classify pixels as black or white using the selected threshold.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4462272"/>
            <a:ext cx="548640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700"/>
              </a:spcAft>
              <a:defRPr sz="1800" b="1">
                <a:solidFill>
                  <a:srgbClr val="239191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800600"/>
            <a:ext cx="2286000" cy="566928"/>
          </a:xfrm>
          <a:prstGeom prst="roundRect">
            <a:avLst/>
          </a:prstGeom>
          <a:solidFill>
            <a:srgbClr val="EFF5FA"/>
          </a:solidFill>
          <a:ln>
            <a:solidFill>
              <a:srgbClr val="23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162D4E"/>
                </a:solidFill>
                <a:latin typeface="Aptos"/>
              </a:defRPr>
            </a:pPr>
            <a:r>
              <a:t>5. Output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9000" y="4846320"/>
            <a:ext cx="7498079" cy="5486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6303C"/>
                </a:solidFill>
                <a:latin typeface="Aptos"/>
              </a:defRPr>
            </a:pPr>
            <a:r>
              <a:t>Display or save the segmented image for comparison.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3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064240" cy="5486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62D4E"/>
                </a:solidFill>
                <a:latin typeface="Aptos"/>
              </a:defRPr>
            </a:pPr>
            <a:r>
              <a:t>Working Principle of Otsu's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73952"/>
            <a:ext cx="54864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5F6D7C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10607040" cy="5943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2C69A6"/>
                </a:solidFill>
                <a:latin typeface="Aptos"/>
              </a:defRPr>
            </a:pPr>
            <a:r>
              <a:t>Otsu's method divides grayscale pixels into two classes: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920240"/>
            <a:ext cx="4937760" cy="1143000"/>
          </a:xfrm>
          <a:prstGeom prst="roundRect">
            <a:avLst/>
          </a:prstGeom>
          <a:solidFill>
            <a:srgbClr val="EFF5FA"/>
          </a:solidFill>
          <a:ln>
            <a:solidFill>
              <a:srgbClr val="D5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41832" y="2057400"/>
            <a:ext cx="4608576" cy="34747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239191"/>
                </a:solidFill>
                <a:latin typeface="Aptos"/>
              </a:defRPr>
            </a:pPr>
            <a:r>
              <a:t>Class 0 — Background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2487168"/>
            <a:ext cx="4608576" cy="44805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6303C"/>
                </a:solidFill>
                <a:latin typeface="Aptos"/>
              </a:defRPr>
            </a:pPr>
            <a:r>
              <a:t>Pixels at or below the candidate threshold.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920240"/>
            <a:ext cx="4937760" cy="1143000"/>
          </a:xfrm>
          <a:prstGeom prst="roundRect">
            <a:avLst/>
          </a:prstGeom>
          <a:solidFill>
            <a:srgbClr val="EFF5FA"/>
          </a:solidFill>
          <a:ln>
            <a:solidFill>
              <a:srgbClr val="D5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65392" y="2057400"/>
            <a:ext cx="4608576" cy="34747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E08F37"/>
                </a:solidFill>
                <a:latin typeface="Aptos"/>
              </a:defRPr>
            </a:pPr>
            <a:r>
              <a:t>Class 1 — Foreground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65392" y="2487168"/>
            <a:ext cx="4608576" cy="44805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6303C"/>
                </a:solidFill>
                <a:latin typeface="Aptos"/>
              </a:defRPr>
            </a:pPr>
            <a:r>
              <a:t>Pixels above the candidate threshold.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520440"/>
            <a:ext cx="10698480" cy="502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2C69A6"/>
                </a:solidFill>
                <a:latin typeface="Aptos"/>
              </a:defRPr>
            </a:pPr>
            <a:r>
              <a:t>Between-class variance formula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069080"/>
            <a:ext cx="10241280" cy="5943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700"/>
              </a:spcAft>
              <a:defRPr sz="2400" b="1">
                <a:solidFill>
                  <a:srgbClr val="162D4E"/>
                </a:solidFill>
                <a:latin typeface="Aptos"/>
              </a:defRPr>
            </a:pPr>
            <a:r>
              <a:t>σ²B(t) = w₀(t) × w₁(t) × [μ₀(t) − μ₁(t)]²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983480"/>
            <a:ext cx="10424160" cy="7315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700"/>
              </a:spcAft>
              <a:defRPr sz="1800" b="0">
                <a:solidFill>
                  <a:srgbClr val="26303C"/>
                </a:solidFill>
                <a:latin typeface="Aptos"/>
              </a:defRPr>
            </a:pPr>
            <a:r>
              <a:t>The method selects the threshold that maximizes the separation between the two classes.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3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064240" cy="5486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62D4E"/>
                </a:solidFill>
                <a:latin typeface="Aptos"/>
              </a:defRPr>
            </a:pPr>
            <a:r>
              <a:t>Core Python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73952"/>
            <a:ext cx="54864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5F6D7C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234440"/>
            <a:ext cx="10789920" cy="3017520"/>
          </a:xfrm>
          <a:prstGeom prst="roundRect">
            <a:avLst/>
          </a:prstGeom>
          <a:solidFill>
            <a:srgbClr val="1D27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508760"/>
            <a:ext cx="10241280" cy="2468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E1EFF8"/>
                </a:solidFill>
                <a:latin typeface="Consolas"/>
              </a:defRPr>
            </a:pPr>
            <a:r>
              <a:t>gray = cv2.cvtColor(image, cv2.COLOR_BGR2GRAY)</a:t>
            </a:r>
          </a:p>
          <a:p>
            <a:pPr>
              <a:spcAft>
                <a:spcPts val="700"/>
              </a:spcAft>
              <a:defRPr sz="1700" b="0">
                <a:solidFill>
                  <a:srgbClr val="E1EFF8"/>
                </a:solidFill>
                <a:latin typeface="Consolas"/>
              </a:defRPr>
            </a:pPr>
            <a:r>
              <a:t>threshold_value, segmented = cv2.threshold(</a:t>
            </a:r>
          </a:p>
          <a:p>
            <a:pPr>
              <a:spcAft>
                <a:spcPts val="700"/>
              </a:spcAft>
              <a:defRPr sz="1700" b="0">
                <a:solidFill>
                  <a:srgbClr val="E1EFF8"/>
                </a:solidFill>
                <a:latin typeface="Consolas"/>
              </a:defRPr>
            </a:pPr>
            <a:r>
              <a:t>    gray, 0, 255, cv2.THRESH_BINARY + cv2.THRESH_OTSU</a:t>
            </a:r>
          </a:p>
          <a:p>
            <a:pPr>
              <a:spcAft>
                <a:spcPts val="700"/>
              </a:spcAft>
              <a:defRPr sz="1700" b="0">
                <a:solidFill>
                  <a:srgbClr val="E1EFF8"/>
                </a:solidFill>
                <a:latin typeface="Consolas"/>
              </a:defRPr>
            </a:pPr>
            <a:r>
              <a:t>)</a:t>
            </a:r>
          </a:p>
          <a:p>
            <a:pPr>
              <a:spcAft>
                <a:spcPts val="700"/>
              </a:spcAft>
              <a:defRPr sz="1700" b="0">
                <a:solidFill>
                  <a:srgbClr val="E1EFF8"/>
                </a:solidFill>
                <a:latin typeface="Consolas"/>
              </a:defRPr>
            </a:pPr>
            <a:endParaRPr/>
          </a:p>
          <a:p>
            <a:pPr>
              <a:spcAft>
                <a:spcPts val="700"/>
              </a:spcAft>
              <a:defRPr sz="1700" b="0">
                <a:solidFill>
                  <a:srgbClr val="E1EFF8"/>
                </a:solidFill>
                <a:latin typeface="Consolas"/>
              </a:defRPr>
            </a:pPr>
            <a:r>
              <a:t>print('Otsu threshold:', threshold_value)</a:t>
            </a:r>
          </a:p>
          <a:p>
            <a:pPr>
              <a:spcAft>
                <a:spcPts val="700"/>
              </a:spcAft>
              <a:defRPr sz="1700" b="0">
                <a:solidFill>
                  <a:srgbClr val="E1EFF8"/>
                </a:solidFill>
                <a:latin typeface="Consolas"/>
              </a:defRPr>
            </a:pPr>
            <a:r>
              <a:t>cv2.imwrite('segmented_image.png', segmented)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572000"/>
            <a:ext cx="10698480" cy="9144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26303C"/>
                </a:solidFill>
                <a:latin typeface="Aptos"/>
              </a:defRPr>
            </a:pPr>
            <a:r>
              <a:t>The threshold starts at 0 because OpenCV calculates the actual threshold automatically when THRESH_OTSU is enabled. The result is a binary image.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3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064240" cy="5486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62D4E"/>
                </a:solidFill>
                <a:latin typeface="Aptos"/>
              </a:defRPr>
            </a:pPr>
            <a:r>
              <a:t>User Interface / Output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73952"/>
            <a:ext cx="54864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5F6D7C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789920" cy="502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2C69A6"/>
                </a:solidFill>
                <a:latin typeface="Aptos"/>
              </a:defRPr>
            </a:pPr>
            <a:r>
              <a:t>A simple interface can show the stages side by side: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3154680" cy="2286000"/>
          </a:xfrm>
          <a:prstGeom prst="roundRect">
            <a:avLst/>
          </a:prstGeom>
          <a:solidFill>
            <a:srgbClr val="EFF5FA"/>
          </a:solidFill>
          <a:ln>
            <a:solidFill>
              <a:srgbClr val="2C69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2148840"/>
            <a:ext cx="2880360" cy="502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700"/>
              </a:spcAft>
              <a:defRPr sz="1700" b="1">
                <a:solidFill>
                  <a:srgbClr val="2C69A6"/>
                </a:solidFill>
                <a:latin typeface="Aptos"/>
              </a:defRPr>
            </a:pPr>
            <a:r>
              <a:t>Original Image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788920"/>
            <a:ext cx="2880360" cy="5486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700"/>
              </a:spcAft>
              <a:defRPr sz="1400" b="0">
                <a:solidFill>
                  <a:srgbClr val="5F6D7C"/>
                </a:solidFill>
                <a:latin typeface="Aptos"/>
              </a:defRPr>
            </a:pPr>
            <a:r>
              <a:t>Uploaded input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828800"/>
            <a:ext cx="3154680" cy="2286000"/>
          </a:xfrm>
          <a:prstGeom prst="roundRect">
            <a:avLst/>
          </a:prstGeom>
          <a:solidFill>
            <a:srgbClr val="EFF5FA"/>
          </a:solidFill>
          <a:ln>
            <a:solidFill>
              <a:srgbClr val="23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0" y="2148840"/>
            <a:ext cx="2880360" cy="502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700"/>
              </a:spcAft>
              <a:defRPr sz="1700" b="1">
                <a:solidFill>
                  <a:srgbClr val="239191"/>
                </a:solidFill>
                <a:latin typeface="Aptos"/>
              </a:defRPr>
            </a:pPr>
            <a:r>
              <a:t>Grayscale Image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788920"/>
            <a:ext cx="2880360" cy="5486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700"/>
              </a:spcAft>
              <a:defRPr sz="1400" b="0">
                <a:solidFill>
                  <a:srgbClr val="5F6D7C"/>
                </a:solidFill>
                <a:latin typeface="Aptos"/>
              </a:defRPr>
            </a:pPr>
            <a:r>
              <a:t>Intensity image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828800"/>
            <a:ext cx="3154680" cy="2286000"/>
          </a:xfrm>
          <a:prstGeom prst="roundRect">
            <a:avLst/>
          </a:prstGeom>
          <a:solidFill>
            <a:srgbClr val="EFF5FA"/>
          </a:solidFill>
          <a:ln>
            <a:solidFill>
              <a:srgbClr val="E08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183880" y="2148840"/>
            <a:ext cx="2880360" cy="502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700"/>
              </a:spcAft>
              <a:defRPr sz="1700" b="1">
                <a:solidFill>
                  <a:srgbClr val="E08F37"/>
                </a:solidFill>
                <a:latin typeface="Aptos"/>
              </a:defRPr>
            </a:pPr>
            <a:r>
              <a:t>Segmented Image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80" y="2788920"/>
            <a:ext cx="2880360" cy="5486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700"/>
              </a:spcAft>
              <a:defRPr sz="1400" b="0">
                <a:solidFill>
                  <a:srgbClr val="5F6D7C"/>
                </a:solidFill>
                <a:latin typeface="Aptos"/>
              </a:defRPr>
            </a:pPr>
            <a:r>
              <a:t>Black and white 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709160"/>
            <a:ext cx="10241280" cy="7772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700"/>
              </a:spcAft>
              <a:defRPr sz="1500" b="1">
                <a:solidFill>
                  <a:srgbClr val="E08F37"/>
                </a:solidFill>
                <a:latin typeface="Aptos"/>
              </a:defRPr>
            </a:pPr>
            <a:r>
              <a:t>Note: These are layout placeholders, not actual project screenshots. Replace them with screenshots from your working application before submission.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3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064240" cy="5486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62D4E"/>
                </a:solidFill>
                <a:latin typeface="Aptos"/>
              </a:defRPr>
            </a:pPr>
            <a:r>
              <a:t>Results and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73952"/>
            <a:ext cx="54864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5F6D7C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5212080" cy="4572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  <a:defRPr sz="2100" b="1">
                <a:solidFill>
                  <a:srgbClr val="2C69A6"/>
                </a:solidFill>
                <a:latin typeface="Aptos"/>
              </a:defRPr>
            </a:pPr>
            <a:r>
              <a:t>What to check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5212080" cy="3566160"/>
          </a:xfrm>
          <a:prstGeom prst="rect">
            <a:avLst/>
          </a:prstGeom>
          <a:noFill/>
        </p:spPr>
        <p:txBody>
          <a:bodyPr wrap="square" tIns="73152" rIns="109728">
            <a:spAutoFit/>
          </a:bodyPr>
          <a:lstStyle/>
          <a:p>
            <a:pPr>
              <a:buChar char="•"/>
              <a:defRPr sz="1800">
                <a:solidFill>
                  <a:srgbClr val="26303C"/>
                </a:solidFill>
                <a:latin typeface="Aptos"/>
              </a:defRPr>
            </a:pPr>
            <a:r>
              <a:t>Is the main object separated from the background?</a:t>
            </a:r>
          </a:p>
          <a:p>
            <a:pPr>
              <a:buChar char="•"/>
              <a:defRPr sz="1800">
                <a:solidFill>
                  <a:srgbClr val="26303C"/>
                </a:solidFill>
                <a:latin typeface="Aptos"/>
              </a:defRPr>
            </a:pPr>
            <a:r>
              <a:t>Are important object parts preserved?</a:t>
            </a:r>
          </a:p>
          <a:p>
            <a:pPr>
              <a:buChar char="•"/>
              <a:defRPr sz="1800">
                <a:solidFill>
                  <a:srgbClr val="26303C"/>
                </a:solidFill>
                <a:latin typeface="Aptos"/>
              </a:defRPr>
            </a:pPr>
            <a:r>
              <a:t>Are there extra white or black regions?</a:t>
            </a:r>
          </a:p>
          <a:p>
            <a:pPr>
              <a:buChar char="•"/>
              <a:defRPr sz="1800">
                <a:solidFill>
                  <a:srgbClr val="26303C"/>
                </a:solidFill>
                <a:latin typeface="Aptos"/>
              </a:defRPr>
            </a:pPr>
            <a:r>
              <a:t>Does noise affect the result?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143000"/>
            <a:ext cx="5029200" cy="4572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  <a:defRPr sz="2100" b="1">
                <a:solidFill>
                  <a:srgbClr val="2C69A6"/>
                </a:solidFill>
                <a:latin typeface="Aptos"/>
              </a:defRPr>
            </a:pPr>
            <a:r>
              <a:t>Expected observations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91640"/>
            <a:ext cx="5029200" cy="23774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26303C"/>
                </a:solidFill>
                <a:latin typeface="Aptos"/>
              </a:defRPr>
            </a:pPr>
            <a:r>
              <a:t>Otsu often works well when the image has two clearly separated intensity groups. It may struggle with uneven lighting, heavy noise, or similar foreground and background brightness.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4297680"/>
            <a:ext cx="4937760" cy="1051560"/>
          </a:xfrm>
          <a:prstGeom prst="roundRect">
            <a:avLst/>
          </a:prstGeom>
          <a:solidFill>
            <a:srgbClr val="EFF5FA"/>
          </a:solidFill>
          <a:ln>
            <a:solidFill>
              <a:srgbClr val="D5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28231" y="4434840"/>
            <a:ext cx="4608576" cy="34747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E08F37"/>
                </a:solidFill>
                <a:latin typeface="Aptos"/>
              </a:defRPr>
            </a:pPr>
            <a:r>
              <a:t>Report actual output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28231" y="4864608"/>
            <a:ext cx="4608576" cy="356615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6303C"/>
                </a:solidFill>
                <a:latin typeface="Aptos"/>
              </a:defRPr>
            </a:pPr>
            <a:r>
              <a:t>Insert your input image, segmented result, and threshold value after running the project.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3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064240" cy="5486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62D4E"/>
                </a:solidFill>
                <a:latin typeface="Aptos"/>
              </a:defRPr>
            </a:pPr>
            <a:r>
              <a:t>Advantages and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73952"/>
            <a:ext cx="54864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5F6D7C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325880"/>
            <a:ext cx="5120640" cy="3474720"/>
          </a:xfrm>
          <a:prstGeom prst="roundRect">
            <a:avLst/>
          </a:prstGeom>
          <a:solidFill>
            <a:srgbClr val="EFF5FA"/>
          </a:solidFill>
          <a:ln>
            <a:solidFill>
              <a:srgbClr val="D5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41832" y="1463039"/>
            <a:ext cx="4791455" cy="34747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239191"/>
                </a:solidFill>
                <a:latin typeface="Aptos"/>
              </a:defRPr>
            </a:pPr>
            <a:r>
              <a:t>Advantages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1892807"/>
            <a:ext cx="4791455" cy="277977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6303C"/>
                </a:solidFill>
                <a:latin typeface="Aptos"/>
              </a:defRPr>
            </a:pPr>
            <a:r>
              <a:t>• Automatic threshold selection</a:t>
            </a:r>
          </a:p>
          <a:p>
            <a:pPr>
              <a:spcAft>
                <a:spcPts val="700"/>
              </a:spcAft>
              <a:defRPr sz="1400" b="0">
                <a:solidFill>
                  <a:srgbClr val="26303C"/>
                </a:solidFill>
                <a:latin typeface="Aptos"/>
              </a:defRPr>
            </a:pPr>
            <a:endParaRPr/>
          </a:p>
          <a:p>
            <a:pPr>
              <a:spcAft>
                <a:spcPts val="700"/>
              </a:spcAft>
              <a:defRPr sz="1400" b="0">
                <a:solidFill>
                  <a:srgbClr val="26303C"/>
                </a:solidFill>
                <a:latin typeface="Aptos"/>
              </a:defRPr>
            </a:pPr>
            <a:r>
              <a:t>• Fast and easy to implement</a:t>
            </a:r>
          </a:p>
          <a:p>
            <a:pPr>
              <a:spcAft>
                <a:spcPts val="700"/>
              </a:spcAft>
              <a:defRPr sz="1400" b="0">
                <a:solidFill>
                  <a:srgbClr val="26303C"/>
                </a:solidFill>
                <a:latin typeface="Aptos"/>
              </a:defRPr>
            </a:pPr>
            <a:endParaRPr/>
          </a:p>
          <a:p>
            <a:pPr>
              <a:spcAft>
                <a:spcPts val="700"/>
              </a:spcAft>
              <a:defRPr sz="1400" b="0">
                <a:solidFill>
                  <a:srgbClr val="26303C"/>
                </a:solidFill>
                <a:latin typeface="Aptos"/>
              </a:defRPr>
            </a:pPr>
            <a:r>
              <a:t>• No manual threshold tuning for each image</a:t>
            </a:r>
          </a:p>
          <a:p>
            <a:pPr>
              <a:spcAft>
                <a:spcPts val="700"/>
              </a:spcAft>
              <a:defRPr sz="1400" b="0">
                <a:solidFill>
                  <a:srgbClr val="26303C"/>
                </a:solidFill>
                <a:latin typeface="Aptos"/>
              </a:defRPr>
            </a:pPr>
            <a:endParaRPr/>
          </a:p>
          <a:p>
            <a:pPr>
              <a:spcAft>
                <a:spcPts val="700"/>
              </a:spcAft>
              <a:defRPr sz="1400" b="0">
                <a:solidFill>
                  <a:srgbClr val="26303C"/>
                </a:solidFill>
                <a:latin typeface="Aptos"/>
              </a:defRPr>
            </a:pPr>
            <a:r>
              <a:t>• Works well for clear two-class histograms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325880"/>
            <a:ext cx="5120640" cy="3474720"/>
          </a:xfrm>
          <a:prstGeom prst="roundRect">
            <a:avLst/>
          </a:prstGeom>
          <a:solidFill>
            <a:srgbClr val="EFF5FA"/>
          </a:solidFill>
          <a:ln>
            <a:solidFill>
              <a:srgbClr val="D5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28231" y="1463039"/>
            <a:ext cx="4791455" cy="34747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E08F37"/>
                </a:solidFill>
                <a:latin typeface="Aptos"/>
              </a:defRPr>
            </a:pPr>
            <a:r>
              <a:t>Limitations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28231" y="1892807"/>
            <a:ext cx="4791455" cy="277977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6303C"/>
                </a:solidFill>
                <a:latin typeface="Aptos"/>
              </a:defRPr>
            </a:pPr>
            <a:r>
              <a:t>• Uses one global threshold</a:t>
            </a:r>
          </a:p>
          <a:p>
            <a:pPr>
              <a:spcAft>
                <a:spcPts val="700"/>
              </a:spcAft>
              <a:defRPr sz="1400" b="0">
                <a:solidFill>
                  <a:srgbClr val="26303C"/>
                </a:solidFill>
                <a:latin typeface="Aptos"/>
              </a:defRPr>
            </a:pPr>
            <a:endParaRPr/>
          </a:p>
          <a:p>
            <a:pPr>
              <a:spcAft>
                <a:spcPts val="700"/>
              </a:spcAft>
              <a:defRPr sz="1400" b="0">
                <a:solidFill>
                  <a:srgbClr val="26303C"/>
                </a:solidFill>
                <a:latin typeface="Aptos"/>
              </a:defRPr>
            </a:pPr>
            <a:r>
              <a:t>• Can struggle with uneven illumination</a:t>
            </a:r>
          </a:p>
          <a:p>
            <a:pPr>
              <a:spcAft>
                <a:spcPts val="700"/>
              </a:spcAft>
              <a:defRPr sz="1400" b="0">
                <a:solidFill>
                  <a:srgbClr val="26303C"/>
                </a:solidFill>
                <a:latin typeface="Aptos"/>
              </a:defRPr>
            </a:pPr>
            <a:endParaRPr/>
          </a:p>
          <a:p>
            <a:pPr>
              <a:spcAft>
                <a:spcPts val="700"/>
              </a:spcAft>
              <a:defRPr sz="1400" b="0">
                <a:solidFill>
                  <a:srgbClr val="26303C"/>
                </a:solidFill>
                <a:latin typeface="Aptos"/>
              </a:defRPr>
            </a:pPr>
            <a:r>
              <a:t>• Noise may create unwanted regions</a:t>
            </a:r>
          </a:p>
          <a:p>
            <a:pPr>
              <a:spcAft>
                <a:spcPts val="700"/>
              </a:spcAft>
              <a:defRPr sz="1400" b="0">
                <a:solidFill>
                  <a:srgbClr val="26303C"/>
                </a:solidFill>
                <a:latin typeface="Aptos"/>
              </a:defRPr>
            </a:pPr>
            <a:endParaRPr/>
          </a:p>
          <a:p>
            <a:pPr>
              <a:spcAft>
                <a:spcPts val="700"/>
              </a:spcAft>
              <a:defRPr sz="1400" b="0">
                <a:solidFill>
                  <a:srgbClr val="26303C"/>
                </a:solidFill>
                <a:latin typeface="Aptos"/>
              </a:defRPr>
            </a:pPr>
            <a:r>
              <a:t>• Not ideal when object and background intensities overlap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3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064240" cy="5486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62D4E"/>
                </a:solidFill>
                <a:latin typeface="Aptos"/>
              </a:defRPr>
            </a:pPr>
            <a:r>
              <a:t>Conclusion and Future Improvements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73952"/>
            <a:ext cx="54864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5F6D7C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0607040" cy="11887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2C69A6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0515600" cy="10515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6303C"/>
                </a:solidFill>
                <a:latin typeface="Aptos"/>
              </a:defRPr>
            </a:pPr>
            <a:r>
              <a:t>Otsu's method automatically finds a threshold by maximizing between-class variance and converts a grayscale image into a binary segmented image.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063240"/>
            <a:ext cx="10607040" cy="4572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2C69A6"/>
                </a:solidFill>
                <a:latin typeface="Aptos"/>
              </a:defRPr>
            </a:pPr>
            <a:r>
              <a:t>Future improvements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566160"/>
            <a:ext cx="10332720" cy="1920240"/>
          </a:xfrm>
          <a:prstGeom prst="rect">
            <a:avLst/>
          </a:prstGeom>
          <a:noFill/>
        </p:spPr>
        <p:txBody>
          <a:bodyPr wrap="square" tIns="73152" rIns="109728">
            <a:spAutoFit/>
          </a:bodyPr>
          <a:lstStyle/>
          <a:p>
            <a:pPr>
              <a:buChar char="•"/>
              <a:defRPr sz="1800">
                <a:solidFill>
                  <a:srgbClr val="26303C"/>
                </a:solidFill>
                <a:latin typeface="Aptos"/>
              </a:defRPr>
            </a:pPr>
            <a:r>
              <a:t>Apply noise reduction before thresholding.</a:t>
            </a:r>
          </a:p>
          <a:p>
            <a:pPr>
              <a:buChar char="•"/>
              <a:defRPr sz="1800">
                <a:solidFill>
                  <a:srgbClr val="26303C"/>
                </a:solidFill>
                <a:latin typeface="Aptos"/>
              </a:defRPr>
            </a:pPr>
            <a:r>
              <a:t>Try adaptive thresholding for uneven lighting.</a:t>
            </a:r>
          </a:p>
          <a:p>
            <a:pPr>
              <a:buChar char="•"/>
              <a:defRPr sz="1800">
                <a:solidFill>
                  <a:srgbClr val="26303C"/>
                </a:solidFill>
                <a:latin typeface="Aptos"/>
              </a:defRPr>
            </a:pPr>
            <a:r>
              <a:t>Test the system on more images and record measurable results.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D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645920"/>
            <a:ext cx="10332720" cy="9144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7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88920"/>
            <a:ext cx="10332720" cy="9144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700"/>
              </a:spcAft>
              <a:defRPr sz="2200" b="1">
                <a:solidFill>
                  <a:srgbClr val="B6E0E6"/>
                </a:solidFill>
                <a:latin typeface="Aptos"/>
              </a:defRPr>
            </a:pPr>
            <a:r>
              <a:t>Otsu-Based Automatic Image Segmentation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931920"/>
            <a:ext cx="10332720" cy="9144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7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M. Sai Charan | 24CS003246 | SPSU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725</Words>
  <Application>Microsoft Office PowerPoint</Application>
  <PresentationFormat>Widescreen</PresentationFormat>
  <Paragraphs>122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SaiCharan Mothe</cp:lastModifiedBy>
  <cp:revision>2</cp:revision>
  <dcterms:created xsi:type="dcterms:W3CDTF">2013-01-27T09:14:16Z</dcterms:created>
  <dcterms:modified xsi:type="dcterms:W3CDTF">2026-10-12T13:04:26Z</dcterms:modified>
  <cp:category/>
</cp:coreProperties>
</file>